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8" r:id="rId5"/>
    <p:sldId id="260" r:id="rId6"/>
    <p:sldId id="261" r:id="rId7"/>
    <p:sldId id="269" r:id="rId8"/>
    <p:sldId id="262" r:id="rId9"/>
    <p:sldId id="263" r:id="rId10"/>
    <p:sldId id="271" r:id="rId11"/>
    <p:sldId id="264" r:id="rId12"/>
    <p:sldId id="273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a89fe86b7c9c473/Documents/Book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a89fe86b7c9c473/Documents/Book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a89fe86b7c9c473/Documents/Book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[Dashboard.xlsx]PIvot_table!PivotTable6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1" u="none" strike="noStrike" kern="1200" spc="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1" u="none" strike="noStrike" kern="1200" spc="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Rentals by weather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1" u="none" strike="noStrike" kern="1200" spc="0" baseline="0">
              <a:solidFill>
                <a:schemeClr val="accent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9516654971417741"/>
          <c:y val="0.26279765051959664"/>
          <c:w val="0.66235709630255946"/>
          <c:h val="0.331932717271100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PIvot_table!$L$5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PIvot_table!$K$6:$K$9</c:f>
              <c:strCache>
                <c:ptCount val="3"/>
                <c:pt idx="0">
                  <c:v>Cloudy</c:v>
                </c:pt>
                <c:pt idx="1">
                  <c:v>Heavy Rain</c:v>
                </c:pt>
                <c:pt idx="2">
                  <c:v>Light Rain/Snow</c:v>
                </c:pt>
              </c:strCache>
            </c:strRef>
          </c:cat>
          <c:val>
            <c:numRef>
              <c:f>PIvot_table!$L$6:$L$9</c:f>
              <c:numCache>
                <c:formatCode>General</c:formatCode>
                <c:ptCount val="3"/>
                <c:pt idx="0">
                  <c:v>3593</c:v>
                </c:pt>
                <c:pt idx="1">
                  <c:v>475</c:v>
                </c:pt>
                <c:pt idx="2">
                  <c:v>4315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5A-4F52-A7F4-D710001E4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28484912"/>
        <c:axId val="1328485392"/>
      </c:barChart>
      <c:catAx>
        <c:axId val="1328484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8485392"/>
        <c:crosses val="autoZero"/>
        <c:auto val="1"/>
        <c:lblAlgn val="ctr"/>
        <c:lblOffset val="100"/>
        <c:noMultiLvlLbl val="0"/>
      </c:catAx>
      <c:valAx>
        <c:axId val="132848539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28484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softEdge rad="203200"/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[Dashboard.xlsx]PIvot_table!PivotTable3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i="1">
                <a:solidFill>
                  <a:schemeClr val="accent2">
                    <a:lumMod val="50000"/>
                  </a:schemeClr>
                </a:solidFill>
              </a:rPr>
              <a:t>Hourly usage</a:t>
            </a:r>
          </a:p>
        </c:rich>
      </c:tx>
      <c:layout>
        <c:manualLayout>
          <c:xMode val="edge"/>
          <c:yMode val="edge"/>
          <c:x val="0.36713957817025861"/>
          <c:y val="1.97238658777120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PIvot_table!$B$10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PIvot_table!$A$11:$A$35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PIvot_table!$B$11:$B$35</c:f>
              <c:numCache>
                <c:formatCode>General</c:formatCode>
                <c:ptCount val="24"/>
                <c:pt idx="0">
                  <c:v>44</c:v>
                </c:pt>
                <c:pt idx="1">
                  <c:v>17</c:v>
                </c:pt>
                <c:pt idx="2">
                  <c:v>10</c:v>
                </c:pt>
                <c:pt idx="3">
                  <c:v>3</c:v>
                </c:pt>
                <c:pt idx="4">
                  <c:v>6</c:v>
                </c:pt>
                <c:pt idx="5">
                  <c:v>24</c:v>
                </c:pt>
                <c:pt idx="6">
                  <c:v>160</c:v>
                </c:pt>
                <c:pt idx="7">
                  <c:v>453</c:v>
                </c:pt>
                <c:pt idx="8">
                  <c:v>1012</c:v>
                </c:pt>
                <c:pt idx="9">
                  <c:v>625</c:v>
                </c:pt>
                <c:pt idx="10">
                  <c:v>246</c:v>
                </c:pt>
                <c:pt idx="11">
                  <c:v>254</c:v>
                </c:pt>
                <c:pt idx="12">
                  <c:v>364</c:v>
                </c:pt>
                <c:pt idx="13">
                  <c:v>366</c:v>
                </c:pt>
                <c:pt idx="14">
                  <c:v>340</c:v>
                </c:pt>
                <c:pt idx="15">
                  <c:v>334</c:v>
                </c:pt>
                <c:pt idx="16">
                  <c:v>483</c:v>
                </c:pt>
                <c:pt idx="17">
                  <c:v>1047</c:v>
                </c:pt>
                <c:pt idx="18">
                  <c:v>955</c:v>
                </c:pt>
                <c:pt idx="19">
                  <c:v>617</c:v>
                </c:pt>
                <c:pt idx="20">
                  <c:v>418</c:v>
                </c:pt>
                <c:pt idx="21">
                  <c:v>272</c:v>
                </c:pt>
                <c:pt idx="22">
                  <c:v>215</c:v>
                </c:pt>
                <c:pt idx="23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79-4D4E-9706-8640CBF786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7743600"/>
        <c:axId val="1837741200"/>
      </c:barChart>
      <c:catAx>
        <c:axId val="18377436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37741200"/>
        <c:crosses val="autoZero"/>
        <c:auto val="1"/>
        <c:lblAlgn val="ctr"/>
        <c:lblOffset val="100"/>
        <c:noMultiLvlLbl val="0"/>
      </c:catAx>
      <c:valAx>
        <c:axId val="18377412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37743600"/>
        <c:crosses val="autoZero"/>
        <c:crossBetween val="between"/>
      </c:valAx>
      <c:spPr>
        <a:noFill/>
        <a:ln>
          <a:noFill/>
        </a:ln>
        <a:effectLst>
          <a:softEdge rad="431800"/>
        </a:effectLst>
      </c:spPr>
    </c:plotArea>
    <c:legend>
      <c:legendPos val="r"/>
      <c:overlay val="0"/>
      <c:spPr>
        <a:noFill/>
        <a:ln>
          <a:noFill/>
        </a:ln>
        <a:effectLst>
          <a:softEdge rad="0"/>
        </a:effectLst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50800" dir="5400000" algn="ctr" rotWithShape="0">
        <a:schemeClr val="accent2">
          <a:lumMod val="60000"/>
          <a:lumOff val="40000"/>
        </a:schemeClr>
      </a:outerShdw>
      <a:softEdge rad="381000"/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[Dashboard.xlsx]PIvot_table!PivotTable2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400" b="1" i="1" u="none" strike="noStrike" kern="1200" spc="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1" u="none" strike="noStrike" kern="1200" spc="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Renatls by weekdays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400" b="1" i="1" u="none" strike="noStrike" kern="1200" spc="0" baseline="0">
              <a:solidFill>
                <a:schemeClr val="accent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PIvot_table!$C$92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PIvot_table!$B$93:$B$100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PIvot_table!$C$93:$C$100</c:f>
              <c:numCache>
                <c:formatCode>General</c:formatCode>
                <c:ptCount val="7"/>
                <c:pt idx="0">
                  <c:v>8450</c:v>
                </c:pt>
                <c:pt idx="1">
                  <c:v>8383</c:v>
                </c:pt>
                <c:pt idx="2">
                  <c:v>8049</c:v>
                </c:pt>
                <c:pt idx="3">
                  <c:v>8458</c:v>
                </c:pt>
                <c:pt idx="4">
                  <c:v>9095</c:v>
                </c:pt>
                <c:pt idx="5">
                  <c:v>7748</c:v>
                </c:pt>
                <c:pt idx="6">
                  <c:v>8121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9F-47DA-8147-8E9B10A596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5003887"/>
        <c:axId val="1665004367"/>
      </c:barChart>
      <c:catAx>
        <c:axId val="1665003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5004367"/>
        <c:crosses val="autoZero"/>
        <c:auto val="1"/>
        <c:lblAlgn val="ctr"/>
        <c:lblOffset val="100"/>
        <c:noMultiLvlLbl val="0"/>
      </c:catAx>
      <c:valAx>
        <c:axId val="166500436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65003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softEdge rad="279400"/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0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1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2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0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7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49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1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33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8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0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0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7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678" y="1740309"/>
            <a:ext cx="8229600" cy="2526891"/>
          </a:xfrm>
        </p:spPr>
        <p:txBody>
          <a:bodyPr>
            <a:normAutofit/>
          </a:bodyPr>
          <a:lstStyle/>
          <a:p>
            <a:r>
              <a:t>Bike Sharing Demand Analysis</a:t>
            </a:r>
            <a:r>
              <a:rPr lang="en-US"/>
              <a:t> using Excel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7436E-7B17-E84A-F247-44005B5D3318}"/>
              </a:ext>
            </a:extLst>
          </p:cNvPr>
          <p:cNvSpPr txBox="1"/>
          <p:nvPr/>
        </p:nvSpPr>
        <p:spPr>
          <a:xfrm>
            <a:off x="1278194" y="5515897"/>
            <a:ext cx="277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DUDEKULA REHANA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Bike demand varies based on weather, time, and holidays.</a:t>
            </a:r>
          </a:p>
          <a:p>
            <a:r>
              <a:t>Goal: Identify patterns to improve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rental trends</a:t>
            </a:r>
          </a:p>
          <a:p>
            <a:r>
              <a:t>Understand demand factors</a:t>
            </a:r>
          </a:p>
          <a:p>
            <a:r>
              <a:t>Build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DAE4D-37DD-D008-8A28-55D3AD477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632" y="323799"/>
            <a:ext cx="4921045" cy="1143000"/>
          </a:xfrm>
        </p:spPr>
        <p:txBody>
          <a:bodyPr/>
          <a:lstStyle/>
          <a:p>
            <a:r>
              <a:rPr lang="en-US"/>
              <a:t>Dataset Overview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D97B23-9EF6-9E31-8B32-39B3C6CC36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1722" y="1238101"/>
            <a:ext cx="7880555" cy="5286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uses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datasets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containing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bike-sharing data, weather conditions, and user information.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hourly and daily intervals data is used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variables include: 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1.Date &amp; Time (dteday, hr) 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2.Weather conditions (temperature, humidity</a:t>
            </a:r>
            <a:r>
              <a:rPr lang="en-US" altLang="en-US" sz="2400"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windspeed, season) 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3.User types (casual vs registered users) 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4.Total bike rentals (count) </a:t>
            </a:r>
          </a:p>
        </p:txBody>
      </p:sp>
    </p:spTree>
    <p:extLst>
      <p:ext uri="{BB962C8B-B14F-4D97-AF65-F5344CB8AC3E}">
        <p14:creationId xmlns:p14="http://schemas.microsoft.com/office/powerpoint/2010/main" val="1861515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</a:t>
            </a:r>
            <a:r>
              <a:rPr lang="en-US"/>
              <a:t> using </a:t>
            </a:r>
            <a:endParaRPr/>
          </a:p>
          <a:p>
            <a:r>
              <a:rPr lang="en-US"/>
              <a:t>handled missing values using “COUNTBLANK” and replaced with median values</a:t>
            </a:r>
            <a:endParaRPr/>
          </a:p>
          <a:p>
            <a:r>
              <a:t>Merged datasets using</a:t>
            </a:r>
            <a:r>
              <a:rPr lang="en-US"/>
              <a:t> vlookup</a:t>
            </a:r>
            <a:endParaRPr/>
          </a:p>
          <a:p>
            <a:r>
              <a:t>Corrected data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</a:t>
            </a:r>
            <a:r>
              <a:rPr lang="en-US"/>
              <a:t>Day and Weather column using IF condition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4221-58DE-28F4-EB15-48E4F82D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 dataset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822A8-F356-9314-8A7F-5B71BB031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Cleaned dataset-1 , dataset-2  and dataset-3.</a:t>
            </a:r>
          </a:p>
          <a:p>
            <a:r>
              <a:rPr lang="en-US"/>
              <a:t>merged dataset-1  and  dataset-2 and got a new dataset named new_dataset</a:t>
            </a:r>
          </a:p>
          <a:p>
            <a:r>
              <a:rPr lang="en-US"/>
              <a:t>Again cleaned the new_dataset and merged it with dataset-3 and named it as final_dataset and finally cleaned the final dataset </a:t>
            </a:r>
          </a:p>
          <a:p>
            <a:r>
              <a:rPr lang="en-US"/>
              <a:t>Converted all the dataset into tables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8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Created pivot tables and pivot charts to summarize user demand by time, weather, or user type. </a:t>
            </a:r>
            <a:endParaRPr/>
          </a:p>
          <a:p>
            <a:r>
              <a:t>SUMIF, COUNTIF functions</a:t>
            </a:r>
          </a:p>
          <a:p>
            <a:r>
              <a:t>Trend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demand during morning &amp; evening hours</a:t>
            </a:r>
          </a:p>
          <a:p>
            <a:r>
              <a:t>Weather significantly affects demand</a:t>
            </a:r>
          </a:p>
          <a:p>
            <a:r>
              <a:t>Week</a:t>
            </a:r>
            <a:r>
              <a:rPr lang="en-US"/>
              <a:t>days</a:t>
            </a:r>
            <a:r>
              <a:t> show different usage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04232BE-32C3-4FE3-B1B3-45687B9C51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3273753"/>
              </p:ext>
            </p:extLst>
          </p:nvPr>
        </p:nvGraphicFramePr>
        <p:xfrm>
          <a:off x="447989" y="1002422"/>
          <a:ext cx="4020151" cy="2080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973190E-3309-4998-B7A9-60D909DC38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3836848"/>
              </p:ext>
            </p:extLst>
          </p:nvPr>
        </p:nvGraphicFramePr>
        <p:xfrm>
          <a:off x="881449" y="3537080"/>
          <a:ext cx="4136457" cy="1907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F9B855E-3CF9-47C6-A023-953304C0CC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5877849"/>
              </p:ext>
            </p:extLst>
          </p:nvPr>
        </p:nvGraphicFramePr>
        <p:xfrm>
          <a:off x="5117691" y="883711"/>
          <a:ext cx="3760838" cy="2317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32588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 created</a:t>
            </a:r>
          </a:p>
          <a:p>
            <a:r>
              <a:t>Includes slicers and filters</a:t>
            </a:r>
          </a:p>
          <a:p>
            <a:r>
              <a:t>Visualizes trends clearly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84154-E8A3-4360-B457-ECB3574CF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470" y="490127"/>
            <a:ext cx="5449060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38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bikes during peak hours</a:t>
            </a:r>
            <a:endParaRPr lang="en-US"/>
          </a:p>
          <a:p>
            <a:r>
              <a:rPr lang="en-IN"/>
              <a:t>Adjust strategies based on weather like offering discount  during heavy rains and ensuring bike availability during mild weather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identified key demand patterns</a:t>
            </a:r>
          </a:p>
          <a:p>
            <a:r>
              <a:t>Enabled data-driven decisions</a:t>
            </a:r>
          </a:p>
          <a:p>
            <a:r>
              <a:t>Improved operational planning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144</TotalTime>
  <Words>301</Words>
  <Application>Microsoft Office PowerPoint</Application>
  <PresentationFormat>On-screen Show (4:3)</PresentationFormat>
  <Paragraphs>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Rockwell</vt:lpstr>
      <vt:lpstr>Rockwell Condensed</vt:lpstr>
      <vt:lpstr>Wingdings</vt:lpstr>
      <vt:lpstr>Wood Type</vt:lpstr>
      <vt:lpstr>Bike Sharing Demand Analysis using Excel</vt:lpstr>
      <vt:lpstr>Problem Statement</vt:lpstr>
      <vt:lpstr>Objectives</vt:lpstr>
      <vt:lpstr>Dataset Overview</vt:lpstr>
      <vt:lpstr>Data Cleaning</vt:lpstr>
      <vt:lpstr>Feature Engineering</vt:lpstr>
      <vt:lpstr>Merging dataset</vt:lpstr>
      <vt:lpstr>Analysis Techniques</vt:lpstr>
      <vt:lpstr>Key Insights</vt:lpstr>
      <vt:lpstr>PowerPoint Presentation</vt:lpstr>
      <vt:lpstr>Dashboard Overview</vt:lpstr>
      <vt:lpstr>PowerPoint Presentation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REHANA DUDEKULA</cp:lastModifiedBy>
  <cp:revision>5</cp:revision>
  <dcterms:created xsi:type="dcterms:W3CDTF">2013-01-27T09:14:16Z</dcterms:created>
  <dcterms:modified xsi:type="dcterms:W3CDTF">2026-03-24T10:51:20Z</dcterms:modified>
  <cp:category/>
</cp:coreProperties>
</file>